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 샘플 코퍼스 기반 자료. 세션 시작 시 목적(3개월 내 독립)과 근거 문서 체계를 먼저 공유한다.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신입 온보딩 오리엔테이션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입사 후 3개월, 독립까지의 설계도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015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(주)나린테크 인사담당  ·  2026-08-26 세션용  ·  2026년 1월판 교육자료 기준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19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문서 — 인사평가 운영지침(HR-REG-001) · 취업규칙(HR-REG-002) · 급여규정(HR-REG-003) · 복무규정(HR-REG-004) · 인사팀 SOP(HR-SOP-001)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778240" y="169164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0" y="21488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90</a:t>
            </a:r>
            <a:endParaRPr lang="en-US" sz="6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DED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 안에 결정된다</a:t>
            </a:r>
            <a:endParaRPr lang="en-US" sz="6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첫 90일을 설계하는가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조기 퇴사 의사는 입사 초기에 형성되고, 실제 퇴사는 몇 달 뒤에 일어난다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명시적 목표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30·60·90일 단위 달성 기준이 문서로 있어야 한다. "적응하세요"는 목표가 아니다.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7004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평가자가 아닌 멘토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멘토가 평가 권한을 함께 가지면 입사자는 모르는 것을 묻지 않는다.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7705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완결 경험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60일 안에 작은 과제라도 처음부터 끝까지 혼자 끝내본 경험이 필요하다.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8406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예측 가능한 수습평가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40410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기준을 모른 채 평가받는 경험은 조직 신뢰를 크게 훼손한다.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1481328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1783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89.9%</a:t>
            </a:r>
            <a:endParaRPr lang="en-US" sz="5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 수습 통과율</a:t>
            </a:r>
            <a:endParaRPr lang="en-US" sz="5200" dirty="0"/>
          </a:p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2024-Q1 이후 입사 신입 119명 중 107명 정규 전환</a:t>
            </a:r>
            <a:endParaRPr lang="en-US" sz="52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794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13.9%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퇴사 72건 중 "수습 미전환" 10건, 평균근속 0.32년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온보딩에 쓰는 시간은 비용이 아니라, 이미 지출한 채용 비용을 지키는 일이다.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세션 흐름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60분 — 제도 안내 후 30-60-90일 목표 초안 작성으로 마무리합니다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06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온보딩의 목표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99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3개월 안에 독립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5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8576" y="18470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8576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606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입사 첫 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2999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D+1 ~ D+5 체크리스트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18470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75904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606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30-60-90일 플랜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999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이해 · 기여 · 독립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5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42245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983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 제도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5376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역할과 평가 분리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15968" y="3931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4224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08576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608576" y="4983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수습평가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608576" y="5376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판단 기준과 연장 조항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3296" y="3931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83296" y="39319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5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75904" y="42245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75904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375904" y="4983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처우 · 첫 평가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375904" y="5376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급여·복리후생·반기 사이클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온보딩의 목표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DED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입사 후 3개월 안에 독립적으로 업무를 수행할 수 있는 상태에 도달한다.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DEDE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회사의 일하는 방식과 평가·보상 기준을 정확히 이해한다.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2414B"/>
          </a:solidFill>
          <a:ln w="12700">
            <a:solidFill>
              <a:srgbClr val="1241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17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3개월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수습기간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06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B0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입사일로부터 · 취업규칙 제12조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B0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2025-07-01 개정으로 6개월 → 3개월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2743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2414B"/>
          </a:solidFill>
          <a:ln w="12700">
            <a:solidFill>
              <a:srgbClr val="1241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3017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D-14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수습평가 실시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4206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B0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수습기간 종료 2주 전 · 지침 제10조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2743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2414B"/>
          </a:solidFill>
          <a:ln w="12700">
            <a:solidFill>
              <a:srgbClr val="1241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3336" y="3017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주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 확정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4206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B0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멘토와 30-60-90일 목표를 함께 작성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B0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이후 변경은 멘토 합의 사항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수습은 신분이나 처우를 낮추는 기간이 아니라 판단 기간이다.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입사 첫 주 체크리스트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D+1 ~ D+5 — 인사팀 SOP는 입사 D-3에 장비·계정 신청과 멘토 배정 요청을 끝낸다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75688" cy="2331720"/>
          </a:xfrm>
          <a:prstGeom prst="roundRect">
            <a:avLst>
              <a:gd name="adj" fmla="val 352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D+1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87168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계정·장비 세팅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사내 시스템 접근 권한 신청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07208" y="1691640"/>
            <a:ext cx="2075688" cy="2331720"/>
          </a:xfrm>
          <a:prstGeom prst="roundRect">
            <a:avLst>
              <a:gd name="adj" fmla="val 352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196596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63240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D+1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487168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 배정 확인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1:1 일정 예약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65776" y="1691640"/>
            <a:ext cx="2075688" cy="2331720"/>
          </a:xfrm>
          <a:prstGeom prst="roundRect">
            <a:avLst>
              <a:gd name="adj" fmla="val 352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21808" y="196596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21808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D+2~3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487168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온보딩 문서 리뷰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제품·고객·용어 정리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24344" y="1691640"/>
            <a:ext cx="2075688" cy="2331720"/>
          </a:xfrm>
          <a:prstGeom prst="roundRect">
            <a:avLst>
              <a:gd name="adj" fmla="val 352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0376" y="196596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0376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D+3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0376" y="2487168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30-60-90일 목표 초안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멘토와 함께 작성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82912" y="1691640"/>
            <a:ext cx="2075688" cy="2331720"/>
          </a:xfrm>
          <a:prstGeom prst="roundRect">
            <a:avLst>
              <a:gd name="adj" fmla="val 352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38944" y="196596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38944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D+5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38944" y="2487168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인사담당 오리엔테이션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급여·복리후생·근태 안내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5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63040" y="46634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근태·재택근무 기준</a:t>
            </a:r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은 「복무규정」(HR-REG-004) 제2장을 참조합니다. 오리엔테이션에서 급여·복리후생·근태를 함께 안내하고, 인사담당은 30일·60일 시점에 목표 진행 상황을 체크인합니다.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" y="48188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30-60-90일 플랜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목표는 입사 첫 주에 확정하고, 이후 변경은 멘토 합의 사항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이해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팀의 제품·고객·용어 파악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개발환경 세팅 완료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멘토와 주 2회 30분 정기 면담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60020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8745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550408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기여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7889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작은 단위 과제를 처음부터 끝까지 단독 완료 (최소 2건)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코드리뷰에 리뷰어로 참여 시작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3336" y="18745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3336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17736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독립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27889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스프린트에 정규 인원으로 편성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수습평가 대상 목표의 달성 여부를 멘토와 함께 점검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목표가 그대로 수습평가의 판단 기준이 됩니다 — 교육 커리큘럼이 아니라 첫 주에 양쪽이 합의하는 평가 계약에 가깝습니다.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 제도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「취업규칙」 제14조 — 멘토는 같은 팀의 선임 1명으로 지정한다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멘토의 역할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30-60-90일 목표 수립 지원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주간 면담 — 30일 구간은 주 2회 30분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막힌 지점 해소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내 관계 형성 지원 — 첫 2주간 회의 동석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온보딩 완료 후 회고를 인사담당에 제출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4782312" cy="4023360"/>
          </a:xfrm>
          <a:prstGeom prst="roundRect">
            <a:avLst>
              <a:gd name="adj" fmla="val 1818"/>
            </a:avLst>
          </a:prstGeom>
          <a:solidFill>
            <a:srgbClr val="0B2E36"/>
          </a:solidFill>
          <a:ln w="12700">
            <a:solidFill>
              <a:srgbClr val="0B2E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9202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멘토는 평가자가 될 수 없다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69748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평가자는 직속 상급자입니다.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 의견은 수습평가의 참고자료로만 사용됩니다.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BB0B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멘토가 평가 권한을 함께 가지면 신규 입사자는 모르는 것을 묻지 않습니다. 질문이 곧 약점의 노출이 되기 때문입니다.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수습평가 기준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수습평가는 상대평가가 아니다 — 30-60-90일 목표의 달성 여부만 본다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58384" cy="3017520"/>
          </a:xfrm>
          <a:prstGeom prst="roundRect">
            <a:avLst>
              <a:gd name="adj" fmla="val 2424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6B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정규 인사평가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등급 분포 준수 — S 10% / A 20% / B 50% / C 15% / D 5%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조직 내 상대 위치를 가리는 절차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 70점(OKR) + 역량 30점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81928" y="1600200"/>
            <a:ext cx="5358384" cy="3017520"/>
          </a:xfrm>
          <a:prstGeom prst="roundRect">
            <a:avLst>
              <a:gd name="adj" fmla="val 242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828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수습평가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331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등급 분포를 적용하지 않는다 — 지침 제10조 제2항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 달성 여부만 보는 절대 판단 — 제10조 제3항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결과는 정규 전환 여부 판단의 근거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0B2E36"/>
          </a:solidFill>
          <a:ln w="12700">
            <a:solidFill>
              <a:srgbClr val="0B2E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5120640"/>
            <a:ext cx="9646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 미달 시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1회에 한해 1개월 연장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할 수 있습니다 (취업규칙 제13조 제3항). 연장 후에도 미달이면 정규 전환을 하지 않을 수 있고, 이때 사유를 서면으로 통지합니다 (제4항).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2760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수습기간 중 급여·복리후생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「취업규칙」·「급여규정」·「복무규정」 발췌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58384" cy="1874520"/>
          </a:xfrm>
          <a:prstGeom prst="roundRect">
            <a:avLst>
              <a:gd name="adj" fmla="val 3902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임금 100%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871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수습기간 중 임금은 정규 임금의 100%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취업규칙 제12조 제3항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81928" y="1645920"/>
            <a:ext cx="5358384" cy="1874520"/>
          </a:xfrm>
          <a:prstGeom prst="roundRect">
            <a:avLst>
              <a:gd name="adj" fmla="val 3902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33488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상여금 미지급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33488" y="24871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상여금은 수습기간 중 지급하지 않는다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급여규정 제9조 제4항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58384" cy="1874520"/>
          </a:xfrm>
          <a:prstGeom prst="roundRect">
            <a:avLst>
              <a:gd name="adj" fmla="val 3902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114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42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연차 매월 1일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63600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입사 첫 달부터 매월 1일씩 발생 (최대 11일)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복무규정 제5조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81928" y="3794760"/>
            <a:ext cx="5358384" cy="1874520"/>
          </a:xfrm>
          <a:prstGeom prst="roundRect">
            <a:avLst>
              <a:gd name="adj" fmla="val 3902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114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33488" y="4142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재택근무 불가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33488" y="463600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수습기간 중에는 신청할 수 없다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복무규정 제3조 제3항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수습기간은 근속연수에 산입됩니다 (취업규칙 제12조 제2항).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정규 평가 사이클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정규 전환 후 첫 평가는 다음 반기 차수부터 적용됩니다 — 상반기 1~6월 / 하반기 7~12월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OKR 확정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96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대상기간 개시일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74136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02736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21488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자기평가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2496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종료 +1주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8232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1488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평가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496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종료 +3주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25128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3728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21488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2차 평가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2496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종료 +4주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5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7490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보정회의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2차 마감 +1주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74136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74136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5E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02736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602736" y="37490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통보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3602736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 종료 +3일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99632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5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28232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28232" y="37490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이의신청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6428232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통보 +7일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25128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25128" y="32918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5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53728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253728" y="37490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급여 반영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9253728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익월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0B2E36"/>
          </a:solidFill>
          <a:ln w="12700">
            <a:solidFill>
              <a:srgbClr val="0B2E3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성과평가 70점(OKR 달성도) + 역량평가 30점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OKR은 대상기간 개시 시점에 확정 — 개시 후 수정은 예외 처리  ·  평가 등급은 연봉 인상률·상여 지급률에 연동 (급여규정 제8조·제9조)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실측 — 정규 전환율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수습평가는 형식이 아니라 실제로 결과가 갈리는 절차입니다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4320540"/>
            <a:ext cx="6675120" cy="0"/>
          </a:xfrm>
          <a:prstGeom prst="line">
            <a:avLst/>
          </a:prstGeom>
          <a:noFill/>
          <a:ln w="12700">
            <a:solidFill>
              <a:srgbClr val="E4ED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2108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70%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1560" y="3566160"/>
            <a:ext cx="6675120" cy="0"/>
          </a:xfrm>
          <a:prstGeom prst="line">
            <a:avLst/>
          </a:prstGeom>
          <a:noFill/>
          <a:ln w="12700">
            <a:solidFill>
              <a:srgbClr val="E4ED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4564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80%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2811780"/>
            <a:ext cx="6675120" cy="0"/>
          </a:xfrm>
          <a:prstGeom prst="line">
            <a:avLst/>
          </a:prstGeom>
          <a:noFill/>
          <a:ln w="12700">
            <a:solidFill>
              <a:srgbClr val="E4ED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0205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51560" y="2057400"/>
            <a:ext cx="6675120" cy="0"/>
          </a:xfrm>
          <a:prstGeom prst="line">
            <a:avLst/>
          </a:prstGeom>
          <a:noFill/>
          <a:ln w="12700">
            <a:solidFill>
              <a:srgbClr val="E4ED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9476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분기별 수습 통과율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34440" y="3219145"/>
            <a:ext cx="896112" cy="1855775"/>
          </a:xfrm>
          <a:prstGeom prst="roundRect">
            <a:avLst>
              <a:gd name="adj" fmla="val 306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8136" y="290824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84.6%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5148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2025 Q1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60320" y="2683535"/>
            <a:ext cx="896112" cy="2391385"/>
          </a:xfrm>
          <a:prstGeom prst="roundRect">
            <a:avLst>
              <a:gd name="adj" fmla="val 306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14016" y="237263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91.7%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414016" y="5148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2025 Q2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86200" y="3566160"/>
            <a:ext cx="896112" cy="1508760"/>
          </a:xfrm>
          <a:prstGeom prst="roundRect">
            <a:avLst>
              <a:gd name="adj" fmla="val 306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39896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80.0%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39896" y="5148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2025 Q3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212080" y="2593010"/>
            <a:ext cx="896112" cy="2481910"/>
          </a:xfrm>
          <a:prstGeom prst="roundRect">
            <a:avLst>
              <a:gd name="adj" fmla="val 306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65776" y="228211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92.9%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65776" y="5148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2025 Q4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2525116"/>
            <a:ext cx="896112" cy="2549804"/>
          </a:xfrm>
          <a:prstGeom prst="roundRect">
            <a:avLst>
              <a:gd name="adj" fmla="val 306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91656" y="22142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93.8%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91656" y="5148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 Q2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51560" y="5074920"/>
            <a:ext cx="6675120" cy="0"/>
          </a:xfrm>
          <a:prstGeom prst="line">
            <a:avLst/>
          </a:prstGeom>
          <a:noFill/>
          <a:ln w="12700">
            <a:solidFill>
              <a:srgbClr val="C9D9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1554480"/>
            <a:ext cx="3547872" cy="3931920"/>
          </a:xfrm>
          <a:prstGeom prst="roundRect">
            <a:avLst>
              <a:gd name="adj" fmla="val 2062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0" y="18288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87.8%</a:t>
            </a:r>
            <a:endParaRPr lang="en-US" sz="4000" dirty="0"/>
          </a:p>
          <a:p>
            <a:pPr indent="0" marL="0">
              <a:buNone/>
            </a:pPr>
            <a:r>
              <a:rPr lang="en-US" sz="125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2025년 연간 — 입사 49명 중 43명 전환</a:t>
            </a:r>
            <a:endParaRPr lang="en-US" sz="4000" dirty="0"/>
          </a:p>
          <a:p>
            <a:pPr indent="0" marL="0">
              <a:buNone/>
            </a:pPr>
            <a:endParaRPr lang="en-US" sz="4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232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읽을 때 주의</a:t>
            </a:r>
            <a:endParaRPr lang="en-US" sz="4000" dirty="0"/>
          </a:p>
          <a:p>
            <a:pPr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분기 모수가 10~16명이라 분기 전환율의 등락(80.0%~93.8%)을 제도 효과로 읽기는 어렵습니다. 1~2명 차이가 10%p 이상을 움직입니다.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출처: 2025 연간 인사운영 보고서 · 2025 Q1~Q4 / 2026 Q2 채용·이직 리포트 (가상 샘플)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문의 · 근거 문서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2414B"/>
          </a:solidFill>
          <a:ln w="12700">
            <a:solidFill>
              <a:srgbClr val="1241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온보딩 과정 전반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인사담당 · 내부 채널 #people-ops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15968" y="16002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2414B"/>
          </a:solidFill>
          <a:ln w="12700">
            <a:solidFill>
              <a:srgbClr val="1241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6008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30-60-90일 목표 조정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36008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소속 팀 멘토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83296" y="16002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2414B"/>
          </a:solidFill>
          <a:ln w="12700">
            <a:solidFill>
              <a:srgbClr val="1241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3336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평가·급여 제도 문의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인사담당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문서 체계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62453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문서번호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문서명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다루는 내용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HR-REG-001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인사평가 운영지침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평가 절차·등급·보정회의·이의신청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HR-REG-002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취업규칙 (발췌)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근로시간·채용/수습·복무·휴가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HR-REG-003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급여규정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직급·인상률·상여·성과급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HR-REG-004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복무규정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근태·연차·경조사·병가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HR-SOP-001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인사팀 업무 매뉴얼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DEDE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온보딩·채용·오프보딩 실행 절차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841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19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본 자료는 지식관리 파이프라인 검증용 가상 샘플입니다. 실존 기업·인물과 무관합니다.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신입 온보딩 오리엔테이션 (2026)</dc:title>
  <dc:subject>PptxGenJS Presentation</dc:subject>
  <dc:creator>나린테크 인사담당</dc:creator>
  <cp:lastModifiedBy>나린테크 인사담당</cp:lastModifiedBy>
  <cp:revision>1</cp:revision>
  <dcterms:created xsi:type="dcterms:W3CDTF">2026-08-26T10:46:57Z</dcterms:created>
  <dcterms:modified xsi:type="dcterms:W3CDTF">2026-08-26T10:46:57Z</dcterms:modified>
</cp:coreProperties>
</file>