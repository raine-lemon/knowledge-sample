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latin typeface="맑은 고딕"/>
              </a:defRPr>
            </a:pPr>
            <a:r>
              <a:t>2026년 급여·상여 정책 설명회</a:t>
            </a:r>
          </a:p>
          <a:p>
            <a:pPr>
              <a:spcBef>
                <a:spcPts val="1400"/>
              </a:spcBef>
              <a:defRPr sz="1600">
                <a:solidFill>
                  <a:srgbClr val="666666"/>
                </a:solidFill>
                <a:latin typeface="맑은 고딕"/>
              </a:defRPr>
            </a:pPr>
            <a:r>
              <a:t>(주)나린테크 인사담당 · 전사 설명회 2026년 2월</a:t>
            </a:r>
          </a:p>
          <a:p>
            <a:pPr>
              <a:spcBef>
                <a:spcPts val="1400"/>
              </a:spcBef>
              <a:defRPr sz="1200">
                <a:solidFill>
                  <a:srgbClr val="999999"/>
                </a:solidFill>
                <a:latin typeface="맑은 고딕"/>
              </a:defRPr>
            </a:pPr>
            <a:r>
              <a:t>※ 본 문서는 지식관리 파이프라인 검증용 가상 샘플이다. 실존 기업·인물과 무관하다.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맑은 고딕"/>
              </a:defRPr>
            </a:pPr>
            <a:r>
              <a:t>오늘 다룰 내용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77777"/>
                </a:solidFill>
                <a:latin typeface="맑은 고딕"/>
              </a:defRPr>
            </a:pPr>
            <a:r>
              <a:t>「급여규정」(HR-REG-003) 2026-01-15 개정 반영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직급 체계와 연봉 범위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평가 등급과 연봉 인상·상여의 연결 방식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성과급 — 회사 전체 실적과의 연동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자주 나오는 질문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맑은 고딕"/>
              </a:defRPr>
            </a:pPr>
            <a:r>
              <a:t>직급 체계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77777"/>
                </a:solidFill>
                <a:latin typeface="맑은 고딕"/>
              </a:defRPr>
            </a:pPr>
            <a:r>
              <a:t>5단계 — 「급여규정」 제3조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L1 사원 — 연봉 3,400 ~ 4,200만원 (표준 3,800만원)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L2 선임 — 연봉 4,200 ~ 5,400만원 (표준 4,800만원)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L3 책임 — 연봉 5,400 ~ 7,000만원 (표준 6,200만원)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L4 수석 — 연봉 7,000 ~ 9,500만원 (표준 8,200만원)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L5 본부장 — 연봉 9,500 ~ 13,000만원 (표준 11,000만원)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맑은 고딕"/>
              </a:defRPr>
            </a:pPr>
            <a:r>
              <a:t>승급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77777"/>
                </a:solidFill>
                <a:latin typeface="맑은 고딕"/>
              </a:defRPr>
            </a:pPr>
            <a:r>
              <a:t>「급여규정」 제4조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직급별 승급 심사 최소 재직 연수</a:t>
            </a:r>
          </a:p>
          <a:p>
            <a:pPr lvl="1">
              <a:spcAft>
                <a:spcPts val="500"/>
              </a:spcAft>
              <a:defRPr sz="1300">
                <a:solidFill>
                  <a:srgbClr val="555555"/>
                </a:solidFill>
                <a:latin typeface="맑은 고딕"/>
              </a:defRPr>
            </a:pPr>
            <a:r>
              <a:t>– L1→L2 2년 / L2→L3 3년 / L3→L4 3년 / L4→L5 4년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최근 2개 평가차수 연속 D등급은 승급 심사 대상에서 제외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승급은 심사이지 자동이 아니다 — 연수를 채웠다고 보장되지 않는다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맑은 고딕"/>
              </a:defRPr>
            </a:pPr>
            <a:r>
              <a:t>평가 등급과 연봉 인상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77777"/>
                </a:solidFill>
                <a:latin typeface="맑은 고딕"/>
              </a:defRPr>
            </a:pPr>
            <a:r>
              <a:t>매년 1회, 상반기 평가 확정 후 반영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S등급 — 인상률 8.0%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A등급 — 인상률 5.0%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B등급 — 인상률 3.0%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C등급 — 인상률 1.0%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D등급 — 인상률 0.0%</a:t>
            </a:r>
          </a:p>
          <a:p>
            <a:pPr lvl="1">
              <a:spcAft>
                <a:spcPts val="500"/>
              </a:spcAft>
              <a:defRPr sz="1300">
                <a:solidFill>
                  <a:srgbClr val="555555"/>
                </a:solidFill>
                <a:latin typeface="맑은 고딕"/>
              </a:defRPr>
            </a:pPr>
            <a:r>
              <a:t>– 표준 기준이며, 직급 상한에 근접한 경우 위원회 심의로 조정 가능 — 제8조 제2항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맑은 고딕"/>
              </a:defRPr>
            </a:pPr>
            <a:r>
              <a:t>평가 등급과 상여금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77777"/>
                </a:solidFill>
                <a:latin typeface="맑은 고딕"/>
              </a:defRPr>
            </a:pPr>
            <a:r>
              <a:t>기본급 대비 지급률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S등급 — 200%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A등급 — 150%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B등급 — 100%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C등급 — 50%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D등급 — 0%</a:t>
            </a:r>
          </a:p>
          <a:p>
            <a:pPr lvl="1">
              <a:spcAft>
                <a:spcPts val="500"/>
              </a:spcAft>
              <a:defRPr sz="1300">
                <a:solidFill>
                  <a:srgbClr val="555555"/>
                </a:solidFill>
                <a:latin typeface="맑은 고딕"/>
              </a:defRPr>
            </a:pPr>
            <a:r>
              <a:t>– 반기 평가 확정 후 익월 급여와 함께 지급 — 제9조 제3항</a:t>
            </a:r>
          </a:p>
          <a:p>
            <a:pPr lvl="1">
              <a:spcAft>
                <a:spcPts val="500"/>
              </a:spcAft>
              <a:defRPr sz="1300">
                <a:solidFill>
                  <a:srgbClr val="555555"/>
                </a:solidFill>
                <a:latin typeface="맑은 고딕"/>
              </a:defRPr>
            </a:pPr>
            <a:r>
              <a:t>– 수습기간 중에는 지급하지 않음 — 제9조 제4항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맑은 고딕"/>
              </a:defRPr>
            </a:pPr>
            <a:r>
              <a:t>2026년 상반기 적용 결과 (참고)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77777"/>
                </a:solidFill>
                <a:latin typeface="맑은 고딕"/>
              </a:defRPr>
            </a:pPr>
            <a:r>
              <a:t>평가 대상 196명 기준 가중평균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가중평균 연봉 인상률 — 약 3.5%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가중평균 상여 지급률 — 기본급 대비 약 109%</a:t>
            </a:r>
          </a:p>
          <a:p>
            <a:pPr lvl="1">
              <a:spcAft>
                <a:spcPts val="500"/>
              </a:spcAft>
              <a:defRPr sz="1300">
                <a:solidFill>
                  <a:srgbClr val="555555"/>
                </a:solidFill>
                <a:latin typeface="맑은 고딕"/>
              </a:defRPr>
            </a:pPr>
            <a:r>
              <a:t>– 개인별 실제 수치는 본인 등급에 따라 상이 — 위 표 참조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출처: 2026년 상반기 인사평가 결과 리포트 §4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맑은 고딕"/>
              </a:defRPr>
            </a:pPr>
            <a:r>
              <a:t>성과급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77777"/>
                </a:solidFill>
                <a:latin typeface="맑은 고딕"/>
              </a:defRPr>
            </a:pPr>
            <a:r>
              <a:t>「급여규정」 제10조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회사 전체 영업이익 목표 달성률에 연동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지급 여부와 규모는 이사회 의결로 확정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개인별 배분은 최근 평가 등급을 기준으로 함</a:t>
            </a:r>
          </a:p>
          <a:p>
            <a:pPr lvl="1">
              <a:spcAft>
                <a:spcPts val="500"/>
              </a:spcAft>
              <a:defRPr sz="1300">
                <a:solidFill>
                  <a:srgbClr val="555555"/>
                </a:solidFill>
                <a:latin typeface="맑은 고딕"/>
              </a:defRPr>
            </a:pPr>
            <a:r>
              <a:t>– 연봉 인상·상여금과 별개의 재원 — 매년 지급을 보장하지 않음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맑은 고딕"/>
              </a:defRPr>
            </a:pPr>
            <a:r>
              <a:t>자주 나오는 질문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Q. 등급 이의신청이 인용되면 인상률도 소급되나요?</a:t>
            </a:r>
          </a:p>
          <a:p>
            <a:pPr lvl="1">
              <a:spcAft>
                <a:spcPts val="500"/>
              </a:spcAft>
              <a:defRPr sz="1300">
                <a:solidFill>
                  <a:srgbClr val="555555"/>
                </a:solidFill>
                <a:latin typeface="맑은 고딕"/>
              </a:defRPr>
            </a:pPr>
            <a:r>
              <a:t>– A. 그렇다. 변경된 등급을 기준으로 인상률·상여를 재산정한다.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Q. 휴직 기간의 급여는 어떻게 되나요?</a:t>
            </a:r>
          </a:p>
          <a:p>
            <a:pPr lvl="1">
              <a:spcAft>
                <a:spcPts val="500"/>
              </a:spcAft>
              <a:defRPr sz="1300">
                <a:solidFill>
                  <a:srgbClr val="555555"/>
                </a:solidFill>
                <a:latin typeface="맑은 고딕"/>
              </a:defRPr>
            </a:pPr>
            <a:r>
              <a:t>– A. 육아휴직은 관계 법령, 병가는 「복무규정」 제9조에 따른다.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Q. 퇴직금은 어떻게 계산되나요?</a:t>
            </a:r>
          </a:p>
          <a:p>
            <a:pPr lvl="1">
              <a:spcAft>
                <a:spcPts val="500"/>
              </a:spcAft>
              <a:defRPr sz="1300">
                <a:solidFill>
                  <a:srgbClr val="555555"/>
                </a:solidFill>
                <a:latin typeface="맑은 고딕"/>
              </a:defRPr>
            </a:pPr>
            <a:r>
              <a:t>– A. 근로자퇴직급여보장법에 따라 산정한다 — 제12조.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맑은 고딕"/>
              </a:defRPr>
            </a:pPr>
            <a:r>
              <a:t>문의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급여 명세 문의 — 인사담당 (내부 채널 #people-ops)</a:t>
            </a:r>
          </a:p>
          <a:p>
            <a:pPr>
              <a:spcAft>
                <a:spcPts val="900"/>
              </a:spcAft>
              <a:defRPr sz="1600">
                <a:solidFill>
                  <a:srgbClr val="222222"/>
                </a:solidFill>
                <a:latin typeface="맑은 고딕"/>
              </a:defRPr>
            </a:pPr>
            <a:r>
              <a:t>• 이의신청 절차 — 「인사평가 운영지침」(HR-REG-001) 제12조</a:t>
            </a:r>
          </a:p>
          <a:p>
            <a:pPr lvl="1">
              <a:spcAft>
                <a:spcPts val="500"/>
              </a:spcAft>
              <a:defRPr sz="1300">
                <a:solidFill>
                  <a:srgbClr val="555555"/>
                </a:solidFill>
                <a:latin typeface="맑은 고딕"/>
              </a:defRPr>
            </a:pPr>
            <a:r>
              <a:t>– 근거 문서: 「급여규정」(HR-REG-003) 전문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