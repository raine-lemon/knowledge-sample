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맑은 고딕"/>
              </a:defRPr>
            </a:pPr>
            <a:r>
              <a:t>평가자 교육자료</a:t>
            </a:r>
          </a:p>
          <a:p>
            <a:pPr>
              <a:spcBef>
                <a:spcPts val="1400"/>
              </a:spcBef>
              <a:defRPr sz="1600">
                <a:solidFill>
                  <a:srgbClr val="666666"/>
                </a:solidFill>
                <a:latin typeface="맑은 고딕"/>
              </a:defRPr>
            </a:pPr>
            <a:r>
              <a:t>(주)나린테크 인사담당 · 2026년 2월판</a:t>
            </a:r>
          </a:p>
          <a:p>
            <a:pPr>
              <a:spcBef>
                <a:spcPts val="1400"/>
              </a:spcBef>
              <a:defRPr sz="1200">
                <a:solidFill>
                  <a:srgbClr val="999999"/>
                </a:solidFill>
                <a:latin typeface="맑은 고딕"/>
              </a:defRPr>
            </a:pPr>
            <a:r>
              <a:t>※ 본 문서는 지식관리 파이프라인 검증용 가상 샘플이다. 실존 기업·인물과 무관하다.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이 교육이 필요한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맑은 고딕"/>
              </a:defRPr>
            </a:pPr>
            <a:r>
              <a:t>「인사평가 운영지침」 제9조 — 평가자는 매년 1회 이상 이수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미이수자는 해당 차수의 평가자로 지정될 수 없다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2024~2026년 5개 차수에서 같은 문제가 반복됐다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S·D 등급이 매 차수 규정 비율에 미달 — 중앙집중 경향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보정회의에서 하향 조정이 상향보다 항상 많음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이번 교육은 강의가 아니라 면담 실습 중심으로 개편했다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5개 차수 데이터로 보는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맑은 고딕"/>
              </a:defRPr>
            </a:pPr>
            <a:r>
              <a:t>2024H1 ~ 2026H1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S등급 실제 비율: 9.3% → 8.9% → 9.0% → 8.7% → 8.7% (규정 10%)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D등급 실제 비율: 3.1% → 3.0% → 2.8% → 2.7% → 3.1% (규정 5%)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보정회의 하향 건수가 상향 건수를 5개 차수 내내 초과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1차 평가가 구조적으로 관대한 방향으로 쏠려 있다는 신호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이 패턴이 계속되면 평가가 서열 정보를 주지 못하게 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평가 오류 유형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맑은 고딕"/>
              </a:defRPr>
            </a:pPr>
            <a:r>
              <a:t>가장 자주 나타나는 5가지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중앙집중 오류 — 판단이 어려우면 중간 등급으로 몰아넣는다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우리 회사에서 가장 빈번한 유형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최근효과 — 대상기간 전체가 아니라 최근 1~2개월만 기억한다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후광효과 — 한 가지 강점이 전 항목 점수를 끌어올린다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관대화 — 관계 악화를 피하려 높은 등급을 준다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대비 오류 — 직전에 평가한 사람과 비교해 판단이 흔들린다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등급 분포를 다루는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맑은 고딕"/>
              </a:defRPr>
            </a:pPr>
            <a:r>
              <a:t>분포는 목표가 아니라 제약이다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규정 비율: S 10% / A 20% / B 50% / C 15% / D 5%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먼저 성과 근거로 순위를 정하고, 그다음 분포에 맞춘다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분포를 먼저 정하고 사람을 끼워 넣으면 근거가 사라진다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10명 미만 조직은 상위 조직에 합산 — 무리하게 D를 만들지 않는다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분포 예외가 필요하면 인사위원회 승인을 받는다 — 지침 제6조 제4항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등급과 처우의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맑은 고딕"/>
              </a:defRPr>
            </a:pPr>
            <a:r>
              <a:t>평가가 왜 무거운 결정인지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등급별 표준 인상률 — S 8.0% / A 5.0% / B 3.0% / C 1.0% / D 0.0%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등급별 상여 지급률(기본급 대비) — S 200% / A 150% / B 100% / C 50% / D 0%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「급여규정」(HR-REG-003) 제8조·제9조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중앙집중 경향은 처우 차등을 사실상 무력화한다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성실히 근거를 기록하는 일이 평가자의 책임인 이유가 여기에 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평가 근거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맑은 고딕"/>
              </a:defRPr>
            </a:pPr>
            <a:r>
              <a:t>2026 개정의 핵심 변화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결과 통보 시 등급 산정 근거를 함께 제공해야 한다 — 지침 제12조 제1항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등급마다 관찰된 행동 사례를 최소 2건 기록한다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"성실함"은 근거가 아니다 — 언제 무엇을 했는지 적는다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기록은 5년간 보존된다 — 지침 제13조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이의신청이 들어오면 이 기록이 유일한 방어선이다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보정회의 참석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맑은 고딕"/>
              </a:defRPr>
            </a:pPr>
            <a:r>
              <a:t>2026년부터 의무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보정회의를 거치지 않은 결과는 확정된 것으로 보지 않는다 — 지침 제11조 제4항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가져와야 할 것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1차 평가 결과와 등급별 근거 기록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분포 편차가 발생한 경우 그 사유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회의에서 등급이 변경되면 변경 사유를 기록해 보존한다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회의는 협상이 아니다 — 근거가 약한 등급을 찾아내는 자리다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피드백 면담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맑은 고딕"/>
              </a:defRPr>
            </a:pPr>
            <a:r>
              <a:t>이 세션의 절반은 실습이다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시나리오 1 — C등급을 처음 받는 고성과 이력 구성원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시나리오 2 — 목표가 기중 변경되어 달성도 산정이 애매한 경우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시나리오 3 — 이의신청을 예고한 구성원과의 면담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이의신청 사실은 평가자에게 익명으로 전달된다 — 지침 제12조 제4항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각 시나리오 15분 롤플레이 후 상호 피드백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문의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평가 절차 문의 — 인사담당 (내부 채널 #people-ops)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등급-처우 연동 세부 — 「급여규정」(HR-REG-003) 참조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근거 문서: 「인사평가 운영지침」(HR-REG-001) 제6조·제9조·제11조·제12조·제13조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